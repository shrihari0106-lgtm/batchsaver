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12136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Innovation of AI-Based Quality Recovery for Wet Masala &amp;Gravy Pastes</a:t>
            </a:r>
            <a:endParaRPr lang="en-US" sz="2800">
              <a:solidFill>
                <a:schemeClr val="tx1"/>
              </a:solidFill>
              <a:latin typeface="Arial"/>
              <a:ea typeface="ＭＳ Ｐゴシック"/>
              <a:cs typeface="Arial"/>
            </a:endParaRPr>
          </a:p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467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ea typeface="ＭＳ Ｐゴシック"/>
                <a:cs typeface="Arial"/>
              </a:rPr>
              <a:t>Problem Statement ID – [SIH26197]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ea typeface="ＭＳ Ｐゴシック"/>
                <a:cs typeface="Arial"/>
              </a:rPr>
              <a:t>Problem Statement Title - Innovation of AI-Based Quality Recovery for Wet Masala &amp; Gravy Pastes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ea typeface="ＭＳ Ｐゴシック"/>
                <a:cs typeface="Arial"/>
              </a:rPr>
              <a:t>Theme- Agriculture, </a:t>
            </a:r>
            <a:r>
              <a:rPr lang="en-US" sz="2000" b="1" err="1">
                <a:latin typeface="Arial"/>
                <a:ea typeface="ＭＳ Ｐゴシック"/>
                <a:cs typeface="Arial"/>
              </a:rPr>
              <a:t>FoodTech</a:t>
            </a:r>
            <a:r>
              <a:rPr lang="en-US" sz="2000" b="1">
                <a:latin typeface="Arial"/>
                <a:ea typeface="ＭＳ Ｐゴシック"/>
                <a:cs typeface="Arial"/>
              </a:rPr>
              <a:t> &amp; Rural Development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Team ID- [Fill after registration]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Team Name- [Fill your registered team name]</a:t>
            </a:r>
            <a:endParaRPr lang="en-I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BATCHSAVER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359787"/>
            <a:ext cx="12191999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b="1" u="sng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ea typeface="ＭＳ Ｐゴシック"/>
                <a:cs typeface="Arial"/>
              </a:rPr>
              <a:t>What it is: </a:t>
            </a:r>
            <a:r>
              <a:rPr lang="en-US" sz="2000">
                <a:latin typeface="Arial"/>
                <a:ea typeface="ＭＳ Ｐゴシック"/>
                <a:cs typeface="Arial"/>
              </a:rPr>
              <a:t>An AI system that watches wet masala and gravy pastes live while they cook — tracking viscosity, moisture, color and temperature — and the moment a batch drifts off-spec, computes and applies the smallest correction needed (dosing, stirring or heat) to pull it back on track.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How it solves the problem: </a:t>
            </a:r>
            <a:r>
              <a:rPr lang="en-US" sz="2000">
                <a:latin typeface="Arial" pitchFamily="34" charset="0"/>
                <a:cs typeface="Arial" pitchFamily="34" charset="0"/>
              </a:rPr>
              <a:t>Replaces after-the-fact lab sampling with a live, self-correcting loop — catching oil separation, viscosity drift and over-roasting in real time, so batches are recovered instead of scrapped.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ea typeface="ＭＳ Ｐゴシック"/>
                <a:cs typeface="Arial"/>
              </a:rPr>
              <a:t>Why it’s novel: </a:t>
            </a:r>
            <a:r>
              <a:rPr lang="en-US" sz="2000">
                <a:latin typeface="Arial"/>
                <a:ea typeface="ＭＳ Ｐゴシック"/>
                <a:cs typeface="Arial"/>
              </a:rPr>
              <a:t>Uses minimum-intervention logic, not a blanket reset, to preserve flavor integrity. A patent and market screen across </a:t>
            </a:r>
            <a:r>
              <a:rPr lang="en-US" sz="2000" err="1">
                <a:latin typeface="Arial"/>
                <a:ea typeface="ＭＳ Ｐゴシック"/>
                <a:cs typeface="Arial"/>
              </a:rPr>
              <a:t>InPASS</a:t>
            </a:r>
            <a:r>
              <a:rPr lang="en-US" sz="2000">
                <a:latin typeface="Arial"/>
                <a:ea typeface="ＭＳ Ｐゴシック"/>
                <a:cs typeface="Arial"/>
              </a:rPr>
              <a:t>, Google Patents and </a:t>
            </a:r>
            <a:r>
              <a:rPr lang="en-US" sz="2000" err="1">
                <a:latin typeface="Arial"/>
                <a:ea typeface="ＭＳ Ｐゴシック"/>
                <a:cs typeface="Arial"/>
              </a:rPr>
              <a:t>Espacenet</a:t>
            </a:r>
            <a:r>
              <a:rPr lang="en-US" sz="2000">
                <a:latin typeface="Arial"/>
                <a:ea typeface="ＭＳ Ｐゴシック"/>
                <a:cs typeface="Arial"/>
              </a:rPr>
              <a:t> found no existing patent or product applying real-time AI correction to wet, oil-spice emulsion batches.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SISA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181086"/>
            <a:ext cx="9385300" cy="2646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>
                <a:latin typeface="Arial"/>
                <a:ea typeface="ＭＳ Ｐゴシック"/>
                <a:cs typeface="Arial"/>
              </a:rPr>
              <a:t>Sensing: in-line viscometer, NIR moisture, </a:t>
            </a:r>
            <a:r>
              <a:rPr lang="en-US">
                <a:latin typeface="Arial"/>
                <a:ea typeface="ＭＳ Ｐゴシック"/>
                <a:cs typeface="Arial"/>
              </a:rPr>
              <a:t>color</a:t>
            </a:r>
            <a:r>
              <a:rPr lang="en-US" sz="1800">
                <a:latin typeface="Arial"/>
                <a:ea typeface="ＭＳ Ｐゴシック"/>
                <a:cs typeface="Arial"/>
              </a:rPr>
              <a:t>/spectral &amp; temperature sensors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>
                <a:latin typeface="Arial" pitchFamily="34" charset="0"/>
                <a:cs typeface="Arial" pitchFamily="34" charset="0"/>
              </a:rPr>
              <a:t>AI Engine: real-time drift detection vs. a golden-batch reference curve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>
                <a:latin typeface="Arial" pitchFamily="34" charset="0"/>
                <a:cs typeface="Arial" pitchFamily="34" charset="0"/>
              </a:rPr>
              <a:t>Actuation: dosing pump, stirrer motor &amp; heater controller auto-correct the batch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>
                <a:latin typeface="Arial" pitchFamily="34" charset="0"/>
                <a:cs typeface="Arial" pitchFamily="34" charset="0"/>
              </a:rPr>
              <a:t>Dashboard: live before/after trajectory + full traceability log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endParaRPr lang="en-US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Methodology — the Detect → Correct → Verify Loop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>
                <a:latin typeface="Arial" pitchFamily="34" charset="0"/>
                <a:cs typeface="Arial" pitchFamily="34" charset="0"/>
              </a:rPr>
              <a:t>Golden Batch Profile → Real-Time Sensing → Deviation Detection → Minimum-Intervention Decision → Actuation → Re-Check &amp; Log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SISA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714788"/>
            <a:ext cx="93853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342900" indent="0" algn="just">
              <a:buFont typeface="Arial" panose="020B0604020202020204" pitchFamily="34" charset="0"/>
              <a:buNone/>
            </a:pPr>
            <a:r>
              <a:rPr lang="en-US" sz="1800">
                <a:latin typeface="Arial" pitchFamily="34" charset="0"/>
                <a:cs typeface="Arial" pitchFamily="34" charset="0"/>
              </a:rPr>
              <a:t>Proven in-scope for a hackathon build — deviation detection, correction logic and a live dashboard, validated on synthetic data mirroring published viscosity/moisture ranges for wet masala pastes.</a:t>
            </a:r>
          </a:p>
          <a:p>
            <a:pPr marL="342900" algn="just"/>
            <a:endParaRPr lang="en-US">
              <a:latin typeface="Arial"/>
              <a:ea typeface="ＭＳ Ｐゴシック"/>
              <a:cs typeface="Arial"/>
            </a:endParaRPr>
          </a:p>
          <a:p>
            <a:pPr marL="342900" algn="just"/>
            <a:endParaRPr lang="en-US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Challenges &amp; How We’ll Handle Them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Limited real sensor data → synthetic data built from published extrusion/fermentation ranges, validated against literature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Risk of over- or under-correction → correction magnitude capped; system re-checks after every action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/>
                <a:ea typeface="ＭＳ Ｐゴシック"/>
                <a:cs typeface="Arial"/>
              </a:rPr>
              <a:t>Full hardware integration out of reach in 36 </a:t>
            </a:r>
            <a:r>
              <a:rPr lang="en-US" sz="1700" err="1">
                <a:latin typeface="Arial"/>
                <a:ea typeface="ＭＳ Ｐゴシック"/>
                <a:cs typeface="Arial"/>
              </a:rPr>
              <a:t>hrs</a:t>
            </a:r>
            <a:r>
              <a:rPr lang="en-US" sz="1700">
                <a:latin typeface="Arial"/>
                <a:ea typeface="ＭＳ Ｐゴシック"/>
                <a:cs typeface="Arial"/>
              </a:rPr>
              <a:t> → actuators simulated behind a real dosing/stirring API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/>
                <a:ea typeface="ＭＳ Ｐゴシック"/>
                <a:cs typeface="Arial"/>
              </a:rPr>
              <a:t>Judges may question </a:t>
            </a:r>
            <a:r>
              <a:rPr lang="en-US" sz="1700" err="1">
                <a:latin typeface="Arial"/>
                <a:ea typeface="ＭＳ Ｐゴシック"/>
                <a:cs typeface="Arial"/>
              </a:rPr>
              <a:t>generalisation</a:t>
            </a:r>
            <a:r>
              <a:rPr lang="en-US" sz="1700">
                <a:latin typeface="Arial"/>
                <a:ea typeface="ＭＳ Ｐゴシック"/>
                <a:cs typeface="Arial"/>
              </a:rPr>
              <a:t> → framed as a proof-of-concept on one product, with a clear path to more SKUs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SISA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96757"/>
            <a:ext cx="9385300" cy="3924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342900" indent="0" algn="just">
              <a:buFont typeface="Arial" panose="020B0604020202020204" pitchFamily="34" charset="0"/>
              <a:buNone/>
            </a:pPr>
            <a:r>
              <a:rPr lang="en-US" sz="1800">
                <a:latin typeface="Arial" pitchFamily="34" charset="0"/>
                <a:cs typeface="Arial" pitchFamily="34" charset="0"/>
              </a:rPr>
              <a:t>Every batch a plant would normally scrap becomes a batch it can save — quality teams get a live, explainable view of corrections, and plants gain audit-ready traceability for every run.</a:t>
            </a:r>
          </a:p>
          <a:p>
            <a:pPr marL="342900" algn="just"/>
            <a:endParaRPr lang="en-US">
              <a:latin typeface="Arial"/>
              <a:ea typeface="ＭＳ Ｐゴシック"/>
              <a:cs typeface="Arial"/>
            </a:endParaRPr>
          </a:p>
          <a:p>
            <a:pPr marL="342900" algn="just"/>
            <a:endParaRPr lang="en-US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/>
                <a:ea typeface="ＭＳ Ｐゴシック"/>
                <a:cs typeface="Arial"/>
              </a:rPr>
              <a:t>Economic: fewer scrapped batches = direct savings on spices, oil, </a:t>
            </a:r>
            <a:r>
              <a:rPr lang="en-US" sz="1700" err="1">
                <a:latin typeface="Arial"/>
                <a:ea typeface="ＭＳ Ｐゴシック"/>
                <a:cs typeface="Arial"/>
              </a:rPr>
              <a:t>labour</a:t>
            </a:r>
            <a:r>
              <a:rPr lang="en-US" sz="1700">
                <a:latin typeface="Arial"/>
                <a:ea typeface="ＭＳ Ｐゴシック"/>
                <a:cs typeface="Arial"/>
              </a:rPr>
              <a:t> and energy per run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Brand &amp; Quality: consistent output protects reputation across every batch, not just sampled ones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/>
                <a:ea typeface="ＭＳ Ｐゴシック"/>
                <a:cs typeface="Arial"/>
              </a:rPr>
              <a:t>Environmental: less wasted raw material and energy per </a:t>
            </a:r>
            <a:r>
              <a:rPr lang="en-US" sz="1700" err="1">
                <a:latin typeface="Arial"/>
                <a:ea typeface="ＭＳ Ｐゴシック"/>
                <a:cs typeface="Arial"/>
              </a:rPr>
              <a:t>tonne</a:t>
            </a:r>
            <a:r>
              <a:rPr lang="en-US" sz="1700">
                <a:latin typeface="Arial"/>
                <a:ea typeface="ＭＳ Ｐゴシック"/>
                <a:cs typeface="Arial"/>
              </a:rPr>
              <a:t> produced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Regulatory: every correction logged with a reason code, ready for FSSAI-grade audits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Scalability: same architecture extends to gravy, curry paste &amp; other wet-product lines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SISA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96785"/>
            <a:ext cx="9385300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Patent &amp; Market Landscape Screened</a:t>
            </a:r>
          </a:p>
          <a:p>
            <a:pPr marL="342900" indent="0" algn="just">
              <a:buFont typeface="Arial" panose="020B0604020202020204" pitchFamily="34" charset="0"/>
              <a:buNone/>
            </a:pPr>
            <a:r>
              <a:rPr lang="en-US" sz="1800">
                <a:latin typeface="Arial"/>
                <a:ea typeface="ＭＳ Ｐゴシック"/>
                <a:cs typeface="Arial"/>
              </a:rPr>
              <a:t>Screened </a:t>
            </a:r>
            <a:r>
              <a:rPr lang="en-US" sz="1800" err="1">
                <a:latin typeface="Arial"/>
                <a:ea typeface="ＭＳ Ｐゴシック"/>
                <a:cs typeface="Arial"/>
              </a:rPr>
              <a:t>InPASS</a:t>
            </a:r>
            <a:r>
              <a:rPr lang="en-US" sz="1800">
                <a:latin typeface="Arial"/>
                <a:ea typeface="ＭＳ Ｐゴシック"/>
                <a:cs typeface="Arial"/>
              </a:rPr>
              <a:t>, Google Patents and </a:t>
            </a:r>
            <a:r>
              <a:rPr lang="en-US" sz="1800" err="1">
                <a:latin typeface="Arial"/>
                <a:ea typeface="ＭＳ Ｐゴシック"/>
                <a:cs typeface="Arial"/>
              </a:rPr>
              <a:t>Espacenet</a:t>
            </a:r>
            <a:r>
              <a:rPr lang="en-US" sz="1800">
                <a:latin typeface="Arial"/>
                <a:ea typeface="ＭＳ Ｐゴシック"/>
                <a:cs typeface="Arial"/>
              </a:rPr>
              <a:t>, plus current commercial AI-QC products, before committing to this angle.</a:t>
            </a:r>
          </a:p>
          <a:p>
            <a:pPr marL="342900" algn="just"/>
            <a:endParaRPr lang="en-US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 pitchFamily="34" charset="0"/>
                <a:cs typeface="Arial" pitchFamily="34" charset="0"/>
              </a:rPr>
              <a:t>What Already Exists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Closed-loop AI correction for general batch/process manufacturing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ML-driven control for extrusion and pharma processes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AI quality platforms for dry spice contamination &amp; adulteration checks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700">
                <a:latin typeface="Arial" pitchFamily="34" charset="0"/>
                <a:cs typeface="Arial" pitchFamily="34" charset="0"/>
              </a:rPr>
              <a:t>Product-formulation patents for RTC curry masala preparations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endParaRPr lang="en-US" sz="1700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ea typeface="ＭＳ Ｐゴシック"/>
                <a:cs typeface="Arial"/>
              </a:rPr>
              <a:t>The Gap </a:t>
            </a:r>
            <a:r>
              <a:rPr lang="en-US" sz="2000" b="1" err="1">
                <a:latin typeface="Arial"/>
                <a:ea typeface="ＭＳ Ｐゴシック"/>
                <a:cs typeface="Arial"/>
              </a:rPr>
              <a:t>BatchSaver</a:t>
            </a:r>
            <a:r>
              <a:rPr lang="en-US" sz="2000" b="1">
                <a:latin typeface="Arial"/>
                <a:ea typeface="ＭＳ Ｐゴシック"/>
                <a:cs typeface="Arial"/>
              </a:rPr>
              <a:t> Fills</a:t>
            </a:r>
          </a:p>
          <a:p>
            <a:pPr marL="342900" indent="0" algn="just">
              <a:buFont typeface="Arial" panose="020B0604020202020204" pitchFamily="34" charset="0"/>
              <a:buNone/>
            </a:pPr>
            <a:r>
              <a:rPr lang="en-US" sz="1700">
                <a:latin typeface="Arial" pitchFamily="34" charset="0"/>
                <a:cs typeface="Arial" pitchFamily="34" charset="0"/>
              </a:rPr>
              <a:t>No patent or shipped product applies real-time, minimum-intervention AI correction to wet masala/gravy batches — oil separation, viscosity creep and spice sedimentation are failure modes unique to this wet, oil-spice emulsion.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SISA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BATCHSAVER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shrihari Murugesan</cp:lastModifiedBy>
  <cp:revision>1</cp:revision>
  <dcterms:created xsi:type="dcterms:W3CDTF">2013-12-12T18:46:50Z</dcterms:created>
  <dcterms:modified xsi:type="dcterms:W3CDTF">2026-08-25T04:46:08Z</dcterms:modified>
  <cp:category/>
</cp:coreProperties>
</file>